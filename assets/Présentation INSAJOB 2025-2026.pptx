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C083E6E3-FA7D-4D7B-A595-EF9225AFEA8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A5A5A5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A5A5A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93296810-A885-4BE3-A3E7-6D5BEEA58F3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BF1E9"/>
          </a:solidFill>
        </a:fill>
      </a:tcStyle>
    </a:wholeTbl>
    <a:band1H>
      <a:tcStyle>
        <a:tcBdr/>
        <a:fill>
          <a:solidFill>
            <a:srgbClr val="D5E3C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5E3C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70AD47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70AD47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70AD47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70AD47"/>
          </a:solidFill>
        </a:fill>
      </a:tcStyle>
    </a:firstRow>
  </a:tblStyle>
  <a:tblStyle styleId="{2D5ABB26-0587-4C30-8999-92F81FD0307C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/>
      </a:tcStyle>
    </a:wholeTbl>
  </a:tblStyle>
  <a:tblStyle styleId="{69C7853C-536D-4A76-A0AE-DD22124D55A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wholeTbl>
    <a:band1H>
      <a:tcStyle>
        <a:tcBdr/>
        <a:fill>
          <a:solidFill>
            <a:srgbClr val="A5A5A5"/>
          </a:solidFill>
        </a:fill>
      </a:tcStyle>
    </a:band1H>
    <a:band2H>
      <a:tcStyle>
        <a:tcBdr/>
        <a:fill>
          <a:solidFill>
            <a:srgbClr val="A5A5A5"/>
          </a:solidFill>
        </a:fill>
      </a:tcStyle>
    </a:band2H>
    <a:band1V>
      <a:tcStyle>
        <a:tcBdr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band1V>
    <a:band2V>
      <a:tcStyle>
        <a:tcBdr/>
        <a:fill>
          <a:solidFill>
            <a:srgbClr val="A5A5A5"/>
          </a:solidFill>
        </a:fill>
      </a:tcStyle>
    </a:band2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693E87A-971D-4EBA-A971-A8EA69691A1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9ECC17-BBEA-4EEB-A72D-67335947C92D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5AE2B363-3AE9-4ABE-AD94-E2612F7941DB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67A5FA1D-4FC3-4EFB-9E4F-5EEA9BC97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notes 4">
            <a:extLst>
              <a:ext uri="{FF2B5EF4-FFF2-40B4-BE49-F238E27FC236}">
                <a16:creationId xmlns:a16="http://schemas.microsoft.com/office/drawing/2014/main" id="{22881391-EFD8-4EAA-BA5B-988355A1BA3E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43B143-D4C5-4404-BEDD-BFA928D9117C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71A45A-74CE-41BB-9B49-3AC40DF0F9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016EE3B3-7E85-4DF3-BB73-33340097F105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005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2CC555-3602-4CA0-A587-9016526117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79A4F8-FCC8-4D99-A6D3-5E841DE5A2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F91E92-3B9D-41CC-AD46-5A777B7E33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7AF5D5-5CAE-4B2F-B845-D361C7FC3341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A9AD9E-BD50-4966-8BAA-4F21EFAFA7F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022B91-81CF-449F-8863-49445F8282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236658-17F0-45CF-8136-D3B6C6EBBFA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66014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F5BA0-8834-4515-AC49-3277B47C10E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B20138-6368-4E02-B063-03472EF07CA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F2087F-8D99-4777-8958-38CF1DB277B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3650B2-8955-4387-85D4-75610AAAE31C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06B77A-4E3A-4DBA-9522-D470F2B12BB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2ABE3F-FB1B-4301-B6F9-5F270017C2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66E27B9-2AD2-437C-ADCC-EB91621F25B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04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CDAE40-EC95-4267-81C0-2C2C1E112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9ED289-923C-4A0A-B47A-A316282781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787275-B046-4371-92D3-E7FB3BE27D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80DBCB-8050-4476-B64B-4132284C9BDA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FBD748-670B-400E-8949-FAEE371FA75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07DD77-4492-4458-AC72-DD82529C399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A72277-9C1E-4AEF-8508-61CB6D50EEB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88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DD5F5D-0D5E-446B-BA26-79294163516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869D11-642B-4405-B06E-9B6E7E7F751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0F0F68-17AC-430F-A5D2-09982CE7486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8A0E34-CD3F-4FD3-8C00-2F2761E8A65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5DFF02-9062-4CAA-B8A1-60A76F4AD1A6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941111-F069-4EE2-A96B-DAF9B88C2E7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36557E-FF10-4ACE-AE13-BC59F45493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376F4B-91B2-46F0-B670-7026B39C3A9A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098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727F47-1948-4A5E-8C50-283BC770E5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F7BDF1-AFCF-4BC1-B974-C51EF107D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C264DA-D4E3-4EC4-9710-1D2A0498213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AE9300-E1E8-459B-AC54-9A9DE5BB302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5B197CD-1179-4FF3-AC90-6DE0AA025C1C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FFD3F80-5776-4ACD-9D84-09993BE2346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DFF2AB-DB12-48B0-97FD-2925DF19D8CA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E3C0AA-E09D-4D39-8DCF-4D647452CF7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1350A9-3827-466E-B210-CB92082EC3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962ABA-07D3-4AB7-B1BB-76A6186E56B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51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05FCB3-2ECA-4360-982A-754DBB65DEF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075BAF-0E89-4EB4-A0AA-BE4AD5D03C7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43D0681-63A4-4C46-8371-33E068EC11D3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B9CC71-CBD2-4C73-95D2-6A9CE7E923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D08F2D-8AC8-46F2-AC00-6D76BBB072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8DC53D-4B25-42D8-A900-04D74F58237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760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FABF3D0-8217-498A-A2EE-25BFD6C112C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56540C-DC64-46A7-AAAE-977850162E65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7C8116-1FE9-41F3-BFA2-9EEDF121AC8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99D840-18F7-4B53-9016-33432E3D559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15C363E-2F4E-4675-9333-93C6304CCD7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6827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E3086-618A-469A-81AB-054E35DEC3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F340A6-1203-441C-A8DE-69DB06A920F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875752-C29E-443D-BF4F-F66BEF68B97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FDAF34-53D2-440C-990F-62D79B0AFA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4BE6FA-0292-4110-AA6A-E1E840980074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0325F9-FF71-4B9E-9E19-E3775DCD406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149A57-C0B2-40C3-BDBC-43B492FCAB8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BD4111-313A-4E27-ADBB-9949366EDB8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0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927FF8-05CB-4C98-B2BA-892DBCF1C2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597602E-230D-4DF7-B3EC-0492F63F2AF0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13727C-7C35-4775-836F-BF42F8F23F0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2997C7-A884-4827-A922-799FDE5DFFC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B35897-4295-471F-80A1-3BF3D8297912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ACAF02-9E84-418F-A423-AACC3D9E8A5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58579F-70B8-4C12-8103-6248C864C11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7F39DC-3D23-4643-9BC0-525A07E4848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69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933F51-8CD0-442C-869D-A0F89E6AFF1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4AE37B-417E-4EA0-B30A-E568F415477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804FFC-97E8-47B0-8BFE-DB8B88547B5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DC2A54-2F2B-4D9A-8EC3-4C3028BFAB9C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61ACDA-6C82-4331-906D-316664CDC71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10B1EC-3B8A-42B3-B4D9-B5E77DF409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8AE002-44E8-40B1-911D-1176FFE3E4F7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566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87C4303-F98B-425C-A225-7BE68A450922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0D0920-8540-4151-B266-3135F6E090C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5D1C50-E6EA-4FFB-89BA-375DC7D1B99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5F433E-6EF8-4AD6-B014-79252841C269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1A2AF5-AF1C-48B2-A428-BDECB73466B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4A46B8-7EC7-4C94-8D55-D9F1AE4C52C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01D459-64CD-4EAF-9287-B4DA3BC6E35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102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1370928-6558-4032-B103-E501D5CB40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3114C1-07CF-4AE8-BEB7-9B66C34B38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AE944A-1321-40AB-8989-8D52E6E97B7F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E87854B-C348-4806-8C85-CC789472F8B1}" type="datetime1">
              <a:rPr lang="fr-FR"/>
              <a:pPr lvl="0"/>
              <a:t>02/09/2025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7E361E-DFBD-4DA9-97A0-97F542DE523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CE4768-9416-4B2D-9326-752370804A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DFA3A3C-2DED-4CC2-A3DA-08FD115056E7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4">
            <a:extLst>
              <a:ext uri="{FF2B5EF4-FFF2-40B4-BE49-F238E27FC236}">
                <a16:creationId xmlns:a16="http://schemas.microsoft.com/office/drawing/2014/main" id="{C0EC08DF-4E05-4EA7-8E3F-B96C59825BFA}"/>
              </a:ext>
            </a:extLst>
          </p:cNvPr>
          <p:cNvSpPr txBox="1"/>
          <p:nvPr/>
        </p:nvSpPr>
        <p:spPr>
          <a:xfrm>
            <a:off x="3570914" y="289233"/>
            <a:ext cx="5050176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i="0" u="none" strike="noStrike" kern="1200" cap="none" spc="0" baseline="0" dirty="0">
                <a:solidFill>
                  <a:srgbClr val="FF0000"/>
                </a:solidFill>
                <a:uFillTx/>
                <a:latin typeface="Calibri"/>
              </a:rPr>
              <a:t>Dates INSAJOB 2025-2026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i="0" u="none" strike="noStrike" kern="1200" cap="none" spc="0" baseline="0" dirty="0">
                <a:solidFill>
                  <a:srgbClr val="FF0000"/>
                </a:solidFill>
                <a:uFillTx/>
                <a:latin typeface="Calibri"/>
              </a:rPr>
              <a:t>Présence obligatoire</a:t>
            </a:r>
          </a:p>
        </p:txBody>
      </p:sp>
      <p:pic>
        <p:nvPicPr>
          <p:cNvPr id="4" name="Image 8">
            <a:extLst>
              <a:ext uri="{FF2B5EF4-FFF2-40B4-BE49-F238E27FC236}">
                <a16:creationId xmlns:a16="http://schemas.microsoft.com/office/drawing/2014/main" id="{4D10D001-5146-455B-A5C1-044BB4B67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59" y="90197"/>
            <a:ext cx="2678262" cy="768056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3" name="Tableau 6">
            <a:extLst>
              <a:ext uri="{FF2B5EF4-FFF2-40B4-BE49-F238E27FC236}">
                <a16:creationId xmlns:a16="http://schemas.microsoft.com/office/drawing/2014/main" id="{F92D9B69-024D-4E84-974C-FE2BA6C56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829150"/>
              </p:ext>
            </p:extLst>
          </p:nvPr>
        </p:nvGraphicFramePr>
        <p:xfrm>
          <a:off x="2409245" y="1196154"/>
          <a:ext cx="7498081" cy="53949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95366">
                  <a:extLst>
                    <a:ext uri="{9D8B030D-6E8A-4147-A177-3AD203B41FA5}">
                      <a16:colId xmlns:a16="http://schemas.microsoft.com/office/drawing/2014/main" val="1936600399"/>
                    </a:ext>
                  </a:extLst>
                </a:gridCol>
                <a:gridCol w="2414336">
                  <a:extLst>
                    <a:ext uri="{9D8B030D-6E8A-4147-A177-3AD203B41FA5}">
                      <a16:colId xmlns:a16="http://schemas.microsoft.com/office/drawing/2014/main" val="535168203"/>
                    </a:ext>
                  </a:extLst>
                </a:gridCol>
                <a:gridCol w="2688379">
                  <a:extLst>
                    <a:ext uri="{9D8B030D-6E8A-4147-A177-3AD203B41FA5}">
                      <a16:colId xmlns:a16="http://schemas.microsoft.com/office/drawing/2014/main" val="2922642706"/>
                    </a:ext>
                  </a:extLst>
                </a:gridCol>
              </a:tblGrid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SPÉCIALITÉ/</a:t>
                      </a:r>
                    </a:p>
                    <a:p>
                      <a:pPr lvl="0"/>
                      <a:r>
                        <a:rPr lang="fr-FR" dirty="0"/>
                        <a:t>INTERVENANT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fr-FR" dirty="0"/>
                        <a:t>ATELIER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fr-FR" dirty="0"/>
                        <a:t>ATELIER 2 (avec entreprises)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9368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CFI/</a:t>
                      </a:r>
                    </a:p>
                    <a:p>
                      <a:pPr lvl="0"/>
                      <a:r>
                        <a:rPr lang="fr-FR" dirty="0"/>
                        <a:t>Olivier VARTERESSIAN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Jeudi 4 septembre</a:t>
                      </a:r>
                    </a:p>
                    <a:p>
                      <a:pPr lvl="0"/>
                      <a:r>
                        <a:rPr lang="fr-FR" dirty="0"/>
                        <a:t>9H45- 12H45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Vendredi 7 novembre</a:t>
                      </a:r>
                    </a:p>
                    <a:p>
                      <a:pPr lvl="0"/>
                      <a:r>
                        <a:rPr lang="fr-FR" dirty="0"/>
                        <a:t>9H45 – 12H45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009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MECA/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Olivier VARTERESSIAN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Jeudi 11 septembre</a:t>
                      </a:r>
                    </a:p>
                    <a:p>
                      <a:pPr lvl="0"/>
                      <a:r>
                        <a:rPr lang="fr-FR" dirty="0"/>
                        <a:t>8H – 11H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Jeudi 6 novembre</a:t>
                      </a:r>
                    </a:p>
                    <a:p>
                      <a:pPr lvl="0"/>
                      <a:r>
                        <a:rPr lang="fr-FR" dirty="0"/>
                        <a:t>9H45 – 12H45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95211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GCU/</a:t>
                      </a:r>
                    </a:p>
                    <a:p>
                      <a:pPr lvl="0"/>
                      <a:r>
                        <a:rPr lang="fr-FR" dirty="0"/>
                        <a:t>Magali DEBRAY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Vendredi 12 septembre</a:t>
                      </a:r>
                    </a:p>
                    <a:p>
                      <a:pPr lvl="0"/>
                      <a:r>
                        <a:rPr lang="fr-FR" dirty="0"/>
                        <a:t>9H – 12H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Vendredi 10 octobre</a:t>
                      </a:r>
                    </a:p>
                    <a:p>
                      <a:pPr lvl="0"/>
                      <a:r>
                        <a:rPr lang="fr-FR" dirty="0"/>
                        <a:t>9H – 12H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41016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GM/</a:t>
                      </a:r>
                    </a:p>
                    <a:p>
                      <a:pPr lvl="0"/>
                      <a:r>
                        <a:rPr lang="fr-FR" dirty="0"/>
                        <a:t>Florence BLONDEL</a:t>
                      </a:r>
                    </a:p>
                    <a:p>
                      <a:pPr lvl="0"/>
                      <a:r>
                        <a:rPr lang="fr-FR" dirty="0"/>
                        <a:t>Magali DEBRAY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Lundi 29 septembre</a:t>
                      </a:r>
                    </a:p>
                    <a:p>
                      <a:pPr lvl="0"/>
                      <a:r>
                        <a:rPr lang="fr-FR" dirty="0"/>
                        <a:t>13H15 – 16H45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Vendredi 3 octobre</a:t>
                      </a:r>
                    </a:p>
                    <a:p>
                      <a:pPr lvl="0"/>
                      <a:r>
                        <a:rPr lang="fr-FR" dirty="0"/>
                        <a:t>13H15 – 16H15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415729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ITI/</a:t>
                      </a:r>
                    </a:p>
                    <a:p>
                      <a:pPr lvl="0"/>
                      <a:r>
                        <a:rPr lang="fr-FR" dirty="0"/>
                        <a:t>Florence BLONDEL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Mercredi 22 octobre</a:t>
                      </a:r>
                    </a:p>
                    <a:p>
                      <a:pPr lvl="0"/>
                      <a:r>
                        <a:rPr lang="fr-FR"/>
                        <a:t>14H – 17H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Vendredi 9 janvier </a:t>
                      </a:r>
                    </a:p>
                    <a:p>
                      <a:pPr lvl="0"/>
                      <a:r>
                        <a:rPr lang="fr-FR" dirty="0"/>
                        <a:t>9H – 12H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02842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GPGR/</a:t>
                      </a:r>
                    </a:p>
                    <a:p>
                      <a:pPr lvl="0"/>
                      <a:r>
                        <a:rPr lang="fr-FR" dirty="0"/>
                        <a:t>Magali DEBRAY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Jeudi 13 novembre</a:t>
                      </a:r>
                    </a:p>
                    <a:p>
                      <a:pPr lvl="0"/>
                      <a:r>
                        <a:rPr lang="fr-FR" dirty="0"/>
                        <a:t>9H15 – 12H15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Jeudi 4 décembre</a:t>
                      </a:r>
                    </a:p>
                    <a:p>
                      <a:pPr lvl="0"/>
                      <a:r>
                        <a:rPr lang="fr-FR" dirty="0"/>
                        <a:t>9H15 – 12H15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45729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EP/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Olivier VARTERESSIAN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Mercredi 26 novembre </a:t>
                      </a:r>
                    </a:p>
                    <a:p>
                      <a:pPr lvl="0"/>
                      <a:r>
                        <a:rPr lang="fr-FR" dirty="0"/>
                        <a:t>15H – 18H15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dirty="0"/>
                        <a:t>Mercredi 3 décembre </a:t>
                      </a:r>
                    </a:p>
                    <a:p>
                      <a:pPr lvl="0"/>
                      <a:r>
                        <a:rPr lang="fr-FR" dirty="0"/>
                        <a:t>15H – 18H15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866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163CF50-2371-440C-A12A-833B415D1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682130"/>
              </p:ext>
            </p:extLst>
          </p:nvPr>
        </p:nvGraphicFramePr>
        <p:xfrm>
          <a:off x="2943726" y="816543"/>
          <a:ext cx="8087912" cy="59436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023917">
                  <a:extLst>
                    <a:ext uri="{9D8B030D-6E8A-4147-A177-3AD203B41FA5}">
                      <a16:colId xmlns:a16="http://schemas.microsoft.com/office/drawing/2014/main" val="1342952881"/>
                    </a:ext>
                  </a:extLst>
                </a:gridCol>
                <a:gridCol w="4063995">
                  <a:extLst>
                    <a:ext uri="{9D8B030D-6E8A-4147-A177-3AD203B41FA5}">
                      <a16:colId xmlns:a16="http://schemas.microsoft.com/office/drawing/2014/main" val="537253370"/>
                    </a:ext>
                  </a:extLst>
                </a:gridCol>
              </a:tblGrid>
              <a:tr h="370844">
                <a:tc>
                  <a:txBody>
                    <a:bodyPr/>
                    <a:lstStyle/>
                    <a:p>
                      <a:pPr lvl="0"/>
                      <a:endParaRPr lang="fr-FR" sz="2800" b="1">
                        <a:solidFill>
                          <a:srgbClr val="000000"/>
                        </a:solidFill>
                      </a:endParaRPr>
                    </a:p>
                    <a:p>
                      <a:pPr lvl="0"/>
                      <a:endParaRPr lang="fr-FR" sz="2800" b="1">
                        <a:solidFill>
                          <a:srgbClr val="000000"/>
                        </a:solidFill>
                      </a:endParaRPr>
                    </a:p>
                    <a:p>
                      <a:pPr lvl="0"/>
                      <a:endParaRPr lang="fr-FR" sz="2800" b="1">
                        <a:solidFill>
                          <a:srgbClr val="000000"/>
                        </a:solidFill>
                      </a:endParaRPr>
                    </a:p>
                    <a:p>
                      <a:pPr lvl="0"/>
                      <a:r>
                        <a:rPr lang="fr-FR" sz="2800" b="1">
                          <a:solidFill>
                            <a:srgbClr val="000000"/>
                          </a:solidFill>
                        </a:rPr>
                        <a:t>               ATELIER 1</a:t>
                      </a:r>
                    </a:p>
                  </a:txBody>
                  <a:tcPr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fr-FR" b="1" dirty="0">
                          <a:solidFill>
                            <a:srgbClr val="000000"/>
                          </a:solidFill>
                        </a:rPr>
                        <a:t>Préparer les outils à la recherche de stage, d’alternance, d’emploi</a:t>
                      </a:r>
                    </a:p>
                    <a:p>
                      <a:pPr marL="285750" lvl="0" indent="-285750">
                        <a:buSzPct val="100000"/>
                        <a:buChar char="-"/>
                      </a:pPr>
                      <a:r>
                        <a:rPr lang="fr-FR" b="0" dirty="0">
                          <a:solidFill>
                            <a:srgbClr val="000000"/>
                          </a:solidFill>
                        </a:rPr>
                        <a:t>Culture générale « Emploi »</a:t>
                      </a:r>
                    </a:p>
                    <a:p>
                      <a:pPr marL="285750" lvl="0" indent="-285750">
                        <a:buSzPct val="100000"/>
                        <a:buChar char="-"/>
                      </a:pPr>
                      <a:r>
                        <a:rPr lang="fr-FR" b="0" dirty="0">
                          <a:solidFill>
                            <a:srgbClr val="000000"/>
                          </a:solidFill>
                        </a:rPr>
                        <a:t>CV</a:t>
                      </a:r>
                    </a:p>
                    <a:p>
                      <a:pPr marL="285750" lvl="0" indent="-285750">
                        <a:buSzPct val="100000"/>
                        <a:buChar char="-"/>
                      </a:pPr>
                      <a:r>
                        <a:rPr lang="fr-FR" b="0" dirty="0">
                          <a:solidFill>
                            <a:srgbClr val="000000"/>
                          </a:solidFill>
                        </a:rPr>
                        <a:t>Réseau professionnel</a:t>
                      </a:r>
                    </a:p>
                    <a:p>
                      <a:pPr marL="285750" lvl="0" indent="-285750">
                        <a:buSzPct val="100000"/>
                        <a:buChar char="-"/>
                      </a:pPr>
                      <a:r>
                        <a:rPr lang="fr-FR" b="0" dirty="0">
                          <a:solidFill>
                            <a:srgbClr val="000000"/>
                          </a:solidFill>
                        </a:rPr>
                        <a:t>Savoir anticiper</a:t>
                      </a:r>
                    </a:p>
                    <a:p>
                      <a:pPr marL="285750" lvl="0" indent="-285750">
                        <a:buSzPct val="100000"/>
                        <a:buChar char="-"/>
                      </a:pPr>
                      <a:r>
                        <a:rPr lang="fr-FR" b="0" dirty="0">
                          <a:solidFill>
                            <a:srgbClr val="000000"/>
                          </a:solidFill>
                        </a:rPr>
                        <a:t>Se préparer au PITCH</a:t>
                      </a:r>
                    </a:p>
                    <a:p>
                      <a:pPr marL="0" lvl="0" indent="0">
                        <a:buNone/>
                      </a:pPr>
                      <a:r>
                        <a:rPr lang="fr-FR" b="0" dirty="0">
                          <a:solidFill>
                            <a:srgbClr val="000000"/>
                          </a:solidFill>
                        </a:rPr>
                        <a:t>Temps de travail individuel et collectif</a:t>
                      </a:r>
                    </a:p>
                    <a:p>
                      <a:pPr marL="0" lvl="0" indent="0">
                        <a:buNone/>
                      </a:pPr>
                      <a:endParaRPr lang="fr-FR" b="0" dirty="0">
                        <a:solidFill>
                          <a:srgbClr val="000000"/>
                        </a:solidFill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fr-FR" b="0" dirty="0"/>
                        <a:t>                          </a:t>
                      </a:r>
                      <a:r>
                        <a:rPr lang="fr-FR" b="0" dirty="0">
                          <a:solidFill>
                            <a:srgbClr val="FF0000"/>
                          </a:solidFill>
                        </a:rPr>
                        <a:t>PC portable</a:t>
                      </a:r>
                    </a:p>
                    <a:p>
                      <a:pPr marL="0" lvl="0" indent="0">
                        <a:buNone/>
                      </a:pPr>
                      <a:r>
                        <a:rPr lang="fr-FR" b="0" dirty="0">
                          <a:solidFill>
                            <a:srgbClr val="FF0000"/>
                          </a:solidFill>
                        </a:rPr>
                        <a:t>                          CV</a:t>
                      </a:r>
                      <a:endParaRPr lang="fr-FR" dirty="0"/>
                    </a:p>
                  </a:txBody>
                  <a:tcPr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0072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endParaRPr lang="fr-FR" sz="2800" b="1"/>
                    </a:p>
                    <a:p>
                      <a:pPr lvl="0"/>
                      <a:endParaRPr lang="fr-FR" sz="2800" b="1"/>
                    </a:p>
                    <a:p>
                      <a:pPr lvl="0"/>
                      <a:r>
                        <a:rPr lang="fr-FR" sz="2800" b="1"/>
                        <a:t>              ATELIER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fr-FR" b="1" dirty="0"/>
                        <a:t>Se mettre en action</a:t>
                      </a:r>
                    </a:p>
                    <a:p>
                      <a:pPr marL="285750" lvl="0" indent="-285750">
                        <a:buSzPct val="100000"/>
                        <a:buChar char="-"/>
                      </a:pPr>
                      <a:r>
                        <a:rPr lang="fr-FR" dirty="0"/>
                        <a:t>Simulations d’entretien avec les entreprises</a:t>
                      </a:r>
                    </a:p>
                    <a:p>
                      <a:pPr marL="285750" lvl="0" indent="-285750">
                        <a:buSzPct val="100000"/>
                        <a:buChar char="-"/>
                      </a:pPr>
                      <a:r>
                        <a:rPr lang="fr-FR" dirty="0"/>
                        <a:t>Faire vivre son compte </a:t>
                      </a:r>
                      <a:r>
                        <a:rPr lang="fr-FR" dirty="0" err="1"/>
                        <a:t>Linkedin</a:t>
                      </a:r>
                      <a:r>
                        <a:rPr lang="fr-FR" dirty="0"/>
                        <a:t>: les incontournables du profil, comment je réseaute, avoir une stratégie éditoriale)</a:t>
                      </a:r>
                    </a:p>
                    <a:p>
                      <a:pPr marL="0" lvl="0" indent="0">
                        <a:buNone/>
                      </a:pP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                          PC portable</a:t>
                      </a:r>
                    </a:p>
                    <a:p>
                      <a:pPr marL="0" lvl="0" indent="0">
                        <a:buNone/>
                      </a:pP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rgbClr val="FF0000"/>
                          </a:solidFill>
                        </a:rPr>
                        <a:t>CVs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 couleur (à remettre aux entreprises)</a:t>
                      </a:r>
                      <a:endParaRPr lang="fr-FR" dirty="0"/>
                    </a:p>
                    <a:p>
                      <a:pPr marL="0" lvl="0" indent="0">
                        <a:buNone/>
                      </a:pP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451098"/>
                  </a:ext>
                </a:extLst>
              </a:tr>
            </a:tbl>
          </a:graphicData>
        </a:graphic>
      </p:graphicFrame>
      <p:pic>
        <p:nvPicPr>
          <p:cNvPr id="3" name="Image 3">
            <a:extLst>
              <a:ext uri="{FF2B5EF4-FFF2-40B4-BE49-F238E27FC236}">
                <a16:creationId xmlns:a16="http://schemas.microsoft.com/office/drawing/2014/main" id="{876F67BB-ED83-420A-86A3-9CC3D7252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0" y="182881"/>
            <a:ext cx="2876426" cy="82488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213</Words>
  <Application>Microsoft Office PowerPoint</Application>
  <PresentationFormat>Grand écran</PresentationFormat>
  <Paragraphs>71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Myriam Guilbaud</dc:creator>
  <cp:lastModifiedBy>Myriam Guilbaud</cp:lastModifiedBy>
  <cp:revision>12</cp:revision>
  <dcterms:created xsi:type="dcterms:W3CDTF">2022-07-19T12:22:59Z</dcterms:created>
  <dcterms:modified xsi:type="dcterms:W3CDTF">2025-09-02T11:49:00Z</dcterms:modified>
</cp:coreProperties>
</file>